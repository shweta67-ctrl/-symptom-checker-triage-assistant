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0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146847057" r:id="rId12"/>
    <p:sldId id="2146847058" r:id="rId13"/>
    <p:sldId id="2146847059" r:id="rId14"/>
    <p:sldId id="268" r:id="rId15"/>
    <p:sldId id="2146847055" r:id="rId16"/>
    <p:sldId id="269" r:id="rId17"/>
    <p:sldId id="2146847056" r:id="rId18"/>
    <p:sldId id="25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EC2134-FE55-D600-31C0-C82AB450B7AA}" v="39" dt="2026-08-09T17:41:19.1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9/9/2026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9/9/2026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9/9/2026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idxmbalsrmir9x3z8pjxrj.streamlit.app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1618" y="1383569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Symptom Checker &amp; Triage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432216" y="798794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18121" y="3724555"/>
            <a:ext cx="8121618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   Presented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By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:			</a:t>
            </a:r>
            <a:endParaRPr lang="en-US" sz="2800" b="1" dirty="0">
              <a:solidFill>
                <a:schemeClr val="accent1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AutoNum type="arabicPeriod"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Name- Shweta Negi</a:t>
            </a:r>
            <a:endParaRPr lang="en-US" sz="28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Name- PC Training Institute</a:t>
            </a:r>
            <a:endParaRPr lang="en-US" sz="28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Department- Data Science</a:t>
            </a:r>
            <a:endParaRPr lang="en-US" sz="28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4.  </a:t>
            </a:r>
            <a:r>
              <a:rPr lang="en-US" sz="28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AICTE ID-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STU6a69e86fdbcc01785325679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276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9689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endParaRPr lang="en-US" sz="2000" b="1" dirty="0" smtClean="0">
              <a:latin typeface="Arial"/>
              <a:ea typeface="+mn-lt"/>
              <a:cs typeface="Arial"/>
            </a:endParaRPr>
          </a:p>
          <a:p>
            <a:r>
              <a:rPr lang="en-US" sz="2000" b="1" dirty="0" smtClean="0">
                <a:latin typeface="Arial"/>
                <a:ea typeface="+mn-lt"/>
                <a:cs typeface="Arial"/>
              </a:rPr>
              <a:t>Proposed </a:t>
            </a:r>
            <a:r>
              <a:rPr lang="en-US" sz="2000" b="1" dirty="0">
                <a:latin typeface="Arial"/>
                <a:ea typeface="+mn-lt"/>
                <a:cs typeface="Arial"/>
              </a:rPr>
              <a:t>System/Solution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064" y="986776"/>
            <a:ext cx="11029615" cy="4673324"/>
          </a:xfrm>
        </p:spPr>
        <p:txBody>
          <a:bodyPr>
            <a:normAutofit/>
          </a:bodyPr>
          <a:lstStyle/>
          <a:p>
            <a:r>
              <a:rPr lang="en-US" sz="2000" b="1" dirty="0"/>
              <a:t>Difficulty in assessing </a:t>
            </a:r>
            <a:r>
              <a:rPr lang="en-US" sz="2000" b="1" dirty="0" smtClean="0"/>
              <a:t>symptoms :</a:t>
            </a:r>
            <a:r>
              <a:rPr lang="en-US" sz="2000" dirty="0" smtClean="0"/>
              <a:t> </a:t>
            </a:r>
            <a:r>
              <a:rPr lang="en-US" sz="2000" dirty="0"/>
              <a:t>Patients struggle to determine whether symptoms require self-care, a doctor visit, or emergency care.</a:t>
            </a:r>
          </a:p>
          <a:p>
            <a:r>
              <a:rPr lang="en-US" sz="2000" b="1" dirty="0"/>
              <a:t>Delayed or unnecessary </a:t>
            </a:r>
            <a:r>
              <a:rPr lang="en-US" sz="2000" b="1" dirty="0" smtClean="0"/>
              <a:t>treatment : </a:t>
            </a:r>
            <a:r>
              <a:rPr lang="en-US" sz="2000" dirty="0"/>
              <a:t>Lack of proper guidance may cause delayed treatment or unnecessary emergency visits.</a:t>
            </a:r>
          </a:p>
          <a:p>
            <a:r>
              <a:rPr lang="en-US" sz="2000" b="1" dirty="0"/>
              <a:t>Need for quick preliminary </a:t>
            </a:r>
            <a:r>
              <a:rPr lang="en-US" sz="2000" b="1" dirty="0" smtClean="0"/>
              <a:t>guidance : </a:t>
            </a:r>
            <a:r>
              <a:rPr lang="en-US" sz="2000" dirty="0"/>
              <a:t>Users need an accessible system for immediate symptom assessment and triage recommendations.</a:t>
            </a:r>
          </a:p>
          <a:p>
            <a:r>
              <a:rPr lang="en-US" sz="2000" b="1" dirty="0"/>
              <a:t>Lack of reliable symptom </a:t>
            </a:r>
            <a:r>
              <a:rPr lang="en-US" sz="2000" b="1" dirty="0" smtClean="0"/>
              <a:t>interpretation : </a:t>
            </a:r>
            <a:r>
              <a:rPr lang="en-US" sz="2000" dirty="0"/>
              <a:t>Online symptom searches often provide confusing information without indicating urgency.</a:t>
            </a:r>
          </a:p>
          <a:p>
            <a:r>
              <a:rPr lang="en-US" sz="2000" b="1" dirty="0" smtClean="0"/>
              <a:t>Limited access to preliminary triage : </a:t>
            </a:r>
            <a:r>
              <a:rPr lang="en-US" sz="2000" dirty="0" smtClean="0"/>
              <a:t>There is a need for an accessible tool that helps users understand symptom severity and appropriate next steps.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57" y="842115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r>
              <a:rPr lang="en-US" sz="2000" b="1" dirty="0"/>
              <a:t>Symptom Input </a:t>
            </a:r>
            <a:r>
              <a:rPr lang="en-US" sz="2000" b="1" dirty="0" smtClean="0"/>
              <a:t>System : </a:t>
            </a:r>
            <a:r>
              <a:rPr lang="en-US" sz="2000" dirty="0"/>
              <a:t>Users enter symptoms along with relevant health information such as age, symptom duration, severity, medical history, and current medications.</a:t>
            </a:r>
          </a:p>
          <a:p>
            <a:pPr marL="305435" indent="-305435"/>
            <a:r>
              <a:rPr lang="en-US" sz="2000" b="1" dirty="0"/>
              <a:t>AI-Powered </a:t>
            </a:r>
            <a:r>
              <a:rPr lang="en-US" sz="2000" b="1" dirty="0" smtClean="0"/>
              <a:t>Analysis : </a:t>
            </a:r>
            <a:r>
              <a:rPr lang="en-US" sz="2000" dirty="0"/>
              <a:t>Gemini AI analyzes the user-reported symptoms and identifies possible conditions and potential risk factors.</a:t>
            </a:r>
          </a:p>
          <a:p>
            <a:pPr marL="305435" indent="-305435"/>
            <a:r>
              <a:rPr lang="en-US" sz="2000" b="1" dirty="0"/>
              <a:t>Triage </a:t>
            </a:r>
            <a:r>
              <a:rPr lang="en-US" sz="2000" b="1" dirty="0" smtClean="0"/>
              <a:t>Recommendation : </a:t>
            </a:r>
            <a:r>
              <a:rPr lang="en-US" sz="2000" dirty="0"/>
              <a:t>The system classifies cases into Self-Care, See a Doctor, or Emergency Care based on the analysis.</a:t>
            </a:r>
          </a:p>
          <a:p>
            <a:pPr marL="305435" indent="-305435"/>
            <a:r>
              <a:rPr lang="en-US" sz="2000" b="1" dirty="0"/>
              <a:t>Personalized </a:t>
            </a:r>
            <a:r>
              <a:rPr lang="en-US" sz="2000" b="1" dirty="0" smtClean="0"/>
              <a:t>Guidance : </a:t>
            </a:r>
            <a:r>
              <a:rPr lang="en-US" sz="2000" dirty="0"/>
              <a:t>Provides an urgency score, possible conditions, red flags, self-care tips, and guidance on when to escalate care.</a:t>
            </a:r>
          </a:p>
          <a:p>
            <a:pPr marL="305435" indent="-305435"/>
            <a:r>
              <a:rPr lang="en-US" sz="2000" b="1" dirty="0"/>
              <a:t>Safety </a:t>
            </a:r>
            <a:r>
              <a:rPr lang="en-US" sz="2000" b="1" dirty="0" smtClean="0"/>
              <a:t>Disclaimer : </a:t>
            </a:r>
            <a:r>
              <a:rPr lang="en-US" sz="2000" dirty="0"/>
              <a:t>Clearly states that the AI assessment is for preliminary guidance and does not replace professional medical advice.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7885" y="765209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885" y="765209"/>
            <a:ext cx="11029615" cy="4673324"/>
          </a:xfrm>
        </p:spPr>
        <p:txBody>
          <a:bodyPr>
            <a:normAutofit/>
          </a:bodyPr>
          <a:lstStyle/>
          <a:p>
            <a:r>
              <a:rPr lang="en-IN" sz="2000" b="1" dirty="0" smtClean="0">
                <a:solidFill>
                  <a:srgbClr val="0F0F0F"/>
                </a:solidFill>
              </a:rPr>
              <a:t>Frontend : </a:t>
            </a:r>
            <a:r>
              <a:rPr lang="en-IN" sz="2000" dirty="0" smtClean="0">
                <a:solidFill>
                  <a:srgbClr val="0F0F0F"/>
                </a:solidFill>
              </a:rPr>
              <a:t>Streamlit</a:t>
            </a:r>
          </a:p>
          <a:p>
            <a:r>
              <a:rPr lang="en-IN" sz="2000" b="1" dirty="0" smtClean="0">
                <a:solidFill>
                  <a:srgbClr val="0F0F0F"/>
                </a:solidFill>
              </a:rPr>
              <a:t>Backend : </a:t>
            </a:r>
            <a:r>
              <a:rPr lang="en-IN" sz="2000" dirty="0" smtClean="0">
                <a:solidFill>
                  <a:srgbClr val="0F0F0F"/>
                </a:solidFill>
              </a:rPr>
              <a:t>Python</a:t>
            </a:r>
          </a:p>
          <a:p>
            <a:r>
              <a:rPr lang="en-IN" sz="2000" b="1" dirty="0" smtClean="0">
                <a:solidFill>
                  <a:srgbClr val="0F0F0F"/>
                </a:solidFill>
              </a:rPr>
              <a:t>AI Assisted Development : </a:t>
            </a:r>
            <a:r>
              <a:rPr lang="en-IN" sz="2000" dirty="0">
                <a:solidFill>
                  <a:srgbClr val="0F0F0F"/>
                </a:solidFill>
              </a:rPr>
              <a:t>IBM </a:t>
            </a:r>
            <a:r>
              <a:rPr lang="en-IN" sz="2000" dirty="0" smtClean="0">
                <a:solidFill>
                  <a:srgbClr val="0F0F0F"/>
                </a:solidFill>
              </a:rPr>
              <a:t>Bob</a:t>
            </a:r>
          </a:p>
          <a:p>
            <a:r>
              <a:rPr lang="en-IN" sz="2000" b="1" dirty="0" smtClean="0">
                <a:solidFill>
                  <a:srgbClr val="0F0F0F"/>
                </a:solidFill>
              </a:rPr>
              <a:t>Processing : </a:t>
            </a:r>
            <a:r>
              <a:rPr lang="en-IN" sz="2000" dirty="0">
                <a:solidFill>
                  <a:srgbClr val="0F0F0F"/>
                </a:solidFill>
              </a:rPr>
              <a:t>User input is processed using </a:t>
            </a:r>
            <a:r>
              <a:rPr lang="en-IN" sz="2000" dirty="0" smtClean="0">
                <a:solidFill>
                  <a:srgbClr val="0F0F0F"/>
                </a:solidFill>
              </a:rPr>
              <a:t>AI</a:t>
            </a:r>
          </a:p>
          <a:p>
            <a:r>
              <a:rPr lang="en-IN" sz="2000" b="1" dirty="0" smtClean="0">
                <a:solidFill>
                  <a:srgbClr val="0F0F0F"/>
                </a:solidFill>
              </a:rPr>
              <a:t>Output : </a:t>
            </a:r>
            <a:r>
              <a:rPr lang="en-IN" sz="2000" dirty="0">
                <a:solidFill>
                  <a:srgbClr val="0F0F0F"/>
                </a:solidFill>
              </a:rPr>
              <a:t>Results are displayed through </a:t>
            </a:r>
            <a:r>
              <a:rPr lang="en-IN" sz="2000" dirty="0" smtClean="0">
                <a:solidFill>
                  <a:srgbClr val="0F0F0F"/>
                </a:solidFill>
              </a:rPr>
              <a:t>Streamlit</a:t>
            </a:r>
          </a:p>
          <a:p>
            <a:r>
              <a:rPr lang="en-IN" sz="2000" b="1" dirty="0" smtClean="0">
                <a:solidFill>
                  <a:srgbClr val="0F0F0F"/>
                </a:solidFill>
              </a:rPr>
              <a:t>Flow : -</a:t>
            </a:r>
          </a:p>
          <a:p>
            <a:pPr marL="0" indent="0">
              <a:buNone/>
            </a:pPr>
            <a:r>
              <a:rPr lang="en-IN" sz="2000" b="1" dirty="0" smtClean="0">
                <a:solidFill>
                  <a:srgbClr val="0F0F0F"/>
                </a:solidFill>
              </a:rPr>
              <a:t>User </a:t>
            </a:r>
            <a:r>
              <a:rPr lang="en-IN" sz="2000" b="1" dirty="0">
                <a:solidFill>
                  <a:srgbClr val="0F0F0F"/>
                </a:solidFill>
              </a:rPr>
              <a:t>Input → Streamlit → Python + IBM Bob → AI Processing → Output</a:t>
            </a:r>
            <a:endParaRPr lang="en-IN" sz="2000" b="1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967304"/>
            <a:ext cx="11029615" cy="4673324"/>
          </a:xfrm>
        </p:spPr>
        <p:txBody>
          <a:bodyPr/>
          <a:lstStyle/>
          <a:p>
            <a:pPr marL="305435" indent="-305435"/>
            <a:r>
              <a:rPr lang="en-US" b="1" dirty="0"/>
              <a:t>AI </a:t>
            </a:r>
            <a:r>
              <a:rPr lang="en-US" b="1" dirty="0" smtClean="0"/>
              <a:t>Algorithm : </a:t>
            </a:r>
            <a:r>
              <a:rPr lang="en-US" dirty="0"/>
              <a:t>The system uses Google Gemini AI to analyze user-reported symptoms and generate health-related insights.</a:t>
            </a:r>
          </a:p>
          <a:p>
            <a:pPr marL="305435" indent="-305435"/>
            <a:r>
              <a:rPr lang="en-US" b="1" dirty="0"/>
              <a:t>Data </a:t>
            </a:r>
            <a:r>
              <a:rPr lang="en-US" b="1" dirty="0" smtClean="0"/>
              <a:t>Input : </a:t>
            </a:r>
            <a:r>
              <a:rPr lang="en-US" dirty="0"/>
              <a:t>Users provide symptoms along with age, biological sex, symptom duration, severity, medical history, and current medications.</a:t>
            </a:r>
          </a:p>
          <a:p>
            <a:pPr marL="305435" indent="-305435"/>
            <a:r>
              <a:rPr lang="en-US" b="1" dirty="0"/>
              <a:t>AI </a:t>
            </a:r>
            <a:r>
              <a:rPr lang="en-US" b="1" dirty="0" smtClean="0"/>
              <a:t>Analysis : </a:t>
            </a:r>
            <a:r>
              <a:rPr lang="en-US" dirty="0"/>
              <a:t>The AI processes the patient information and identifies possible conditions and potential risk factors.</a:t>
            </a:r>
          </a:p>
          <a:p>
            <a:pPr marL="305435" indent="-305435"/>
            <a:r>
              <a:rPr lang="en-US" b="1" dirty="0"/>
              <a:t>Triage </a:t>
            </a:r>
            <a:r>
              <a:rPr lang="en-US" b="1" dirty="0" smtClean="0"/>
              <a:t>Classification : </a:t>
            </a:r>
            <a:r>
              <a:rPr lang="en-US" dirty="0"/>
              <a:t>Based on the analysis, the system categorizes cases into Self-Care, See a Doctor, or Emergency Care.</a:t>
            </a:r>
          </a:p>
          <a:p>
            <a:pPr marL="305435" indent="-305435"/>
            <a:r>
              <a:rPr lang="en-US" b="1" dirty="0"/>
              <a:t>Results &amp; </a:t>
            </a:r>
            <a:r>
              <a:rPr lang="en-US" b="1" dirty="0" smtClean="0"/>
              <a:t>Deployment : </a:t>
            </a:r>
            <a:r>
              <a:rPr lang="en-US" dirty="0"/>
              <a:t>The web application displays urgency scores, possible conditions, red flags, self-care tips, and escalation guidance, and can be deployed as a browser-based application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4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6965" y="1352939"/>
            <a:ext cx="9007925" cy="501053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1232452"/>
            <a:ext cx="11103302" cy="5420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38" y="1474236"/>
            <a:ext cx="3424613" cy="240729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3304" y="1474236"/>
            <a:ext cx="7309323" cy="4646645"/>
          </a:xfrm>
          <a:prstGeom prst="rect">
            <a:avLst/>
          </a:prstGeom>
        </p:spPr>
      </p:pic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761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60693" y="2024813"/>
            <a:ext cx="3505504" cy="228593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254" y="1316428"/>
            <a:ext cx="9004040" cy="503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946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 sz="40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2311" y="1646982"/>
            <a:ext cx="9594233" cy="46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163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000" dirty="0">
                <a:solidFill>
                  <a:srgbClr val="0F0F0F"/>
                </a:solidFill>
              </a:rPr>
              <a:t>The project provides an </a:t>
            </a:r>
            <a:r>
              <a:rPr lang="en-US" sz="2000" b="1" dirty="0">
                <a:solidFill>
                  <a:srgbClr val="0F0F0F"/>
                </a:solidFill>
              </a:rPr>
              <a:t>AI-powered preliminary symptom assessment system</a:t>
            </a:r>
            <a:r>
              <a:rPr lang="en-US" sz="2000" dirty="0">
                <a:solidFill>
                  <a:srgbClr val="0F0F0F"/>
                </a:solidFill>
              </a:rPr>
              <a:t> to help users better understand their health concerns.</a:t>
            </a:r>
          </a:p>
          <a:p>
            <a:pPr marL="305435" indent="-305435"/>
            <a:r>
              <a:rPr lang="en-US" sz="2000" dirty="0">
                <a:solidFill>
                  <a:srgbClr val="0F0F0F"/>
                </a:solidFill>
              </a:rPr>
              <a:t>By analyzing user-reported symptoms and relevant health information, the system identifies </a:t>
            </a:r>
            <a:r>
              <a:rPr lang="en-US" sz="2000" b="1" dirty="0">
                <a:solidFill>
                  <a:srgbClr val="0F0F0F"/>
                </a:solidFill>
              </a:rPr>
              <a:t>possible conditions and potential risk factors</a:t>
            </a:r>
            <a:r>
              <a:rPr lang="en-US" sz="2000" dirty="0">
                <a:solidFill>
                  <a:srgbClr val="0F0F0F"/>
                </a:solidFill>
              </a:rPr>
              <a:t>.</a:t>
            </a:r>
          </a:p>
          <a:p>
            <a:pPr marL="305435" indent="-305435"/>
            <a:r>
              <a:rPr lang="en-US" sz="2000" dirty="0">
                <a:solidFill>
                  <a:srgbClr val="0F0F0F"/>
                </a:solidFill>
              </a:rPr>
              <a:t>It provides triage recommendations by categorizing cases into </a:t>
            </a:r>
            <a:r>
              <a:rPr lang="en-US" sz="2000" b="1" dirty="0">
                <a:solidFill>
                  <a:srgbClr val="0F0F0F"/>
                </a:solidFill>
              </a:rPr>
              <a:t>Self-Care, See a Doctor, or Emergency Care</a:t>
            </a:r>
            <a:r>
              <a:rPr lang="en-US" sz="2000" dirty="0">
                <a:solidFill>
                  <a:srgbClr val="0F0F0F"/>
                </a:solidFill>
              </a:rPr>
              <a:t>.</a:t>
            </a:r>
          </a:p>
          <a:p>
            <a:pPr marL="305435" indent="-305435"/>
            <a:r>
              <a:rPr lang="en-US" sz="2000" dirty="0">
                <a:solidFill>
                  <a:srgbClr val="0F0F0F"/>
                </a:solidFill>
              </a:rPr>
              <a:t>The system also generates </a:t>
            </a:r>
            <a:r>
              <a:rPr lang="en-US" sz="2000" b="1" dirty="0">
                <a:solidFill>
                  <a:srgbClr val="0F0F0F"/>
                </a:solidFill>
              </a:rPr>
              <a:t>urgency scores, red flags, self-care tips, and escalation guidance</a:t>
            </a:r>
            <a:r>
              <a:rPr lang="en-US" sz="2000" dirty="0">
                <a:solidFill>
                  <a:srgbClr val="0F0F0F"/>
                </a:solidFill>
              </a:rPr>
              <a:t>.</a:t>
            </a:r>
          </a:p>
          <a:p>
            <a:pPr marL="305435" indent="-305435"/>
            <a:r>
              <a:rPr lang="en-US" sz="2000" dirty="0">
                <a:solidFill>
                  <a:srgbClr val="0F0F0F"/>
                </a:solidFill>
              </a:rPr>
              <a:t>This solution demonstrates how </a:t>
            </a:r>
            <a:r>
              <a:rPr lang="en-US" sz="2000" b="1" dirty="0">
                <a:solidFill>
                  <a:srgbClr val="0F0F0F"/>
                </a:solidFill>
              </a:rPr>
              <a:t>Generative AI can support preliminary health guidance</a:t>
            </a:r>
            <a:r>
              <a:rPr lang="en-US" sz="2000" dirty="0">
                <a:solidFill>
                  <a:srgbClr val="0F0F0F"/>
                </a:solidFill>
              </a:rPr>
              <a:t>, while emphasizing that it does not replace professional medical advice.</a:t>
            </a:r>
            <a:endParaRPr lang="en-IN" sz="2000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b="1" dirty="0"/>
              <a:t>Medical Dataset </a:t>
            </a:r>
            <a:r>
              <a:rPr lang="en-US" b="1" dirty="0" smtClean="0"/>
              <a:t>Integration : </a:t>
            </a:r>
            <a:r>
              <a:rPr lang="en-US" dirty="0"/>
              <a:t>Incorporate verified medical datasets and clinical guidelines to improve assessment </a:t>
            </a:r>
            <a:r>
              <a:rPr lang="en-US" dirty="0" smtClean="0"/>
              <a:t>reliability.</a:t>
            </a:r>
          </a:p>
          <a:p>
            <a:pPr marL="305435" indent="-305435"/>
            <a:r>
              <a:rPr lang="en-US" b="1" dirty="0" smtClean="0"/>
              <a:t>User </a:t>
            </a:r>
            <a:r>
              <a:rPr lang="en-US" b="1" dirty="0"/>
              <a:t>History </a:t>
            </a:r>
            <a:r>
              <a:rPr lang="en-US" b="1" dirty="0" smtClean="0"/>
              <a:t>Tracking : </a:t>
            </a:r>
            <a:r>
              <a:rPr lang="en-US" dirty="0"/>
              <a:t>Allow secure tracking of previous symptom assessments and health trends.</a:t>
            </a:r>
          </a:p>
          <a:p>
            <a:pPr marL="305435" indent="-305435"/>
            <a:r>
              <a:rPr lang="en-US" b="1" dirty="0"/>
              <a:t>Healthcare </a:t>
            </a:r>
            <a:r>
              <a:rPr lang="en-US" b="1" dirty="0" smtClean="0"/>
              <a:t>Integration : </a:t>
            </a:r>
            <a:r>
              <a:rPr lang="en-US" dirty="0"/>
              <a:t>Integrate with hospitals or telemedicine platforms for direct consultation when required.</a:t>
            </a:r>
          </a:p>
          <a:p>
            <a:pPr marL="305435" indent="-305435"/>
            <a:r>
              <a:rPr lang="en-US" b="1" dirty="0"/>
              <a:t>Improved AI </a:t>
            </a:r>
            <a:r>
              <a:rPr lang="en-US" b="1" dirty="0" smtClean="0"/>
              <a:t>Models : </a:t>
            </a:r>
            <a:r>
              <a:rPr lang="en-US" dirty="0"/>
              <a:t>Continuously enhance the system using advanced AI models and medically validated knowledge</a:t>
            </a:r>
            <a:r>
              <a:rPr lang="en-US" dirty="0" smtClean="0"/>
              <a:t>.</a:t>
            </a:r>
          </a:p>
          <a:p>
            <a:pPr marL="305435" indent="-305435"/>
            <a:r>
              <a:rPr lang="en-US" b="1" dirty="0"/>
              <a:t>Multilingual Support : </a:t>
            </a:r>
            <a:r>
              <a:rPr lang="en-US" dirty="0"/>
              <a:t>Extend the application to support multiple languages, making it accessible to a wider range of users.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400" b="1" dirty="0"/>
              <a:t>Google Gemini API Documentation: </a:t>
            </a:r>
            <a:r>
              <a:rPr lang="en-US" sz="2400" dirty="0"/>
              <a:t>Used for integrating Generative AI capabilities for symptom analysis and preliminary health guidance.</a:t>
            </a:r>
          </a:p>
          <a:p>
            <a:pPr marL="305435" indent="-305435"/>
            <a:r>
              <a:rPr lang="en-US" sz="2400" b="1" dirty="0"/>
              <a:t>World Health Organization (WHO): </a:t>
            </a:r>
            <a:r>
              <a:rPr lang="en-US" sz="2400" dirty="0"/>
              <a:t>Referenced for general health information and healthcare guidance.</a:t>
            </a:r>
          </a:p>
          <a:p>
            <a:pPr marL="305435" indent="-305435"/>
            <a:r>
              <a:rPr lang="en-US" sz="2400" b="1" dirty="0"/>
              <a:t>Python Documentation: </a:t>
            </a:r>
            <a:r>
              <a:rPr lang="en-US" sz="2400" dirty="0"/>
              <a:t>Used for backend development and application implementation.</a:t>
            </a:r>
          </a:p>
          <a:p>
            <a:pPr marL="305435" indent="-305435"/>
            <a:r>
              <a:rPr lang="en-US" sz="2400" b="1" dirty="0"/>
              <a:t>Streamlit Documentation: </a:t>
            </a:r>
            <a:r>
              <a:rPr lang="en-US" sz="2400" dirty="0"/>
              <a:t>Used for developing and deploying the interactive web application interface.</a:t>
            </a:r>
          </a:p>
          <a:p>
            <a:pPr marL="305435" indent="-305435"/>
            <a:r>
              <a:rPr lang="en-US" sz="2400" b="1" dirty="0"/>
              <a:t>GitHub: </a:t>
            </a:r>
            <a:r>
              <a:rPr lang="en-US" sz="2400" dirty="0"/>
              <a:t>Used for version control and project source code management.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7422-ED9D-D856-C6AD-0F1A715C2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4000" dirty="0"/>
              <a:t>Deployment link / 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47C2-EF01-12B0-99EA-861F9629D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0"/>
            <a:ext cx="11029615" cy="4673324"/>
          </a:xfrm>
        </p:spPr>
        <p:txBody>
          <a:bodyPr>
            <a:normAutofit/>
          </a:bodyPr>
          <a:lstStyle/>
          <a:p>
            <a:pPr marL="305435" indent="-305435"/>
            <a:r>
              <a:rPr lang="en-IN" sz="2000" b="1" dirty="0" smtClean="0"/>
              <a:t>GitHub Link : </a:t>
            </a:r>
            <a:r>
              <a:rPr lang="en-IN" sz="2000" dirty="0" smtClean="0"/>
              <a:t>https://</a:t>
            </a:r>
            <a:r>
              <a:rPr lang="en-IN" sz="2000" dirty="0"/>
              <a:t>github.com/shweta67-ctrl/-Symptom-Checker-Triage-Assistant.git</a:t>
            </a:r>
            <a:endParaRPr lang="en-US" sz="2000" dirty="0"/>
          </a:p>
          <a:p>
            <a:pPr marL="305435" indent="-305435"/>
            <a:r>
              <a:rPr lang="en-IN" sz="2000" b="1" dirty="0" smtClean="0"/>
              <a:t>Deployment Platform : </a:t>
            </a:r>
            <a:r>
              <a:rPr lang="en-IN" sz="2000" dirty="0" smtClean="0"/>
              <a:t>Streamlit ( </a:t>
            </a:r>
            <a:r>
              <a:rPr lang="en-IN" sz="2000" dirty="0" smtClean="0">
                <a:hlinkClick r:id="rId2"/>
              </a:rPr>
              <a:t>https://idxmbalsrmir9x3z8pjxrj.streamlit.app/</a:t>
            </a:r>
            <a:r>
              <a:rPr lang="en-IN" sz="2000" dirty="0" smtClean="0"/>
              <a:t> 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5885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212" y="2206381"/>
            <a:ext cx="9298744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dcmitype/"/>
    <ds:schemaRef ds:uri="9162bd5b-4ed9-4da3-b376-05204580ba3f"/>
    <ds:schemaRef ds:uri="http://purl.org/dc/terms/"/>
    <ds:schemaRef ds:uri="c0fa2617-96bd-425d-8578-e93563fe37c5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302</TotalTime>
  <Words>725</Words>
  <Application>Microsoft Office PowerPoint</Application>
  <PresentationFormat>Widescreen</PresentationFormat>
  <Paragraphs>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Symptom Checker &amp; Triage Assistant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Result</vt:lpstr>
      <vt:lpstr>Result</vt:lpstr>
      <vt:lpstr>Result</vt:lpstr>
      <vt:lpstr>Conclusion</vt:lpstr>
      <vt:lpstr>PowerPoint Presentation</vt:lpstr>
      <vt:lpstr>References</vt:lpstr>
      <vt:lpstr>Deployment link / 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SN</cp:lastModifiedBy>
  <cp:revision>32</cp:revision>
  <dcterms:created xsi:type="dcterms:W3CDTF">2021-05-26T16:50:10Z</dcterms:created>
  <dcterms:modified xsi:type="dcterms:W3CDTF">2026-09-09T13:29:27Z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